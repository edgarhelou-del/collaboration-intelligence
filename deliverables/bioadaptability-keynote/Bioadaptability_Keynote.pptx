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cold, no framing, no logo, no title slide in the corporate sense. "This is the Endurance. Twenty-eight men. One of the most ambitious expeditions of its time: the first crossing of Antarctica on foot. They had trained for the cold. They had trained for the ice. They had a plan." Pause. Let the image hold before speaking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"In January 1915, still short of land, the ship stopped. Not damaged — stopped. Frozen into the pack ice of the Weddell Sea. For months, it didn't move. Neither did they." Source: History.com, "The Stunning Survival Story of Ernest Shackleton and His Endurance Crew"; Frank Hurley photograph, 1915 (public domain).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"By October, the pressure of a thousand square miles of ice found the ship's hull. It didn't sink. It was crushed — slowly, over weeks — while the men watched from tents on the ice beside her. Every plan they had sailed south with died with that ship." Land the thread: this is not a talk about Antarctica. GOOSEBUMPS SETUP — do not resolve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from the ice to the room. We build five-year strategies, OKRs, forecasts, roadmaps — extraordinary machinery for turning uncertainty into a plan. Image: aerial center-pivot irrigation, evoking engineered, perfect order (placeholder — see Image_Sources workbook for the real USGS/Landsat asset).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turn of Act I. Ask it plainly and let it sit — do not answer yet. Same image family as S4, alternate crop in final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Organizations respond to uncertainty with more planning, more process, more prediction, more reporting. Introduce Act II by name — the only act title spoken aloud as a title in the whole talk, because it names the trap the audience is about to recognize in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PARADOX 1. State it and let it breathe — this is its own beat, not a subpoint. This is the hinge into Act III.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into 'Look at Life.' Not a biology lecture — a change of witnesses. Signal explicitly: we are not here to learn biology, we are here to borrow judgment from things that have survived longer than any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WOW #2. Starling murmurations show scale-free correlation (Cavagna et al., PNAS 2010): a turn at one edge of a flock of thousands reaches the far edge in under a second, with no leader initiating it. Land: 'Information doesn't need a hierarchy to travel fast. It needs connection.'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Suzanne Simard's mother-tree research (UBC): trees share carbon, warnings, nutrients through fungal networks below ground. MEMORABLE LINE #3 delivered here in full: 'It is a network that agreed to fail together less often' (say the second half now or hold it — director's choice).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WOW #3. Physarum slime mold recreated Tokyo's rail network from scattered oat flakes — no central plan, pure local reinforcement (stigmergy) (Tero/Nakagaki et al., Science 2010). Ants solve shortest-path foraging problems the same way. Land: 'You don't need a strategy meeting to be intelligent. You need feedback loops everyone can read.'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WOW #5. 'Trained immunity': the innate immune system, assumed purely reflexive, was shown to also learn from past exposure — encoded via chromatin/epigenetic change rather than genetic recombination (Netea et al.; Cell Host &amp; Microbe, 2018 review). Adaptability doesn't only live in the slow, deliberate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slide. This line is the pivot from nature to the three human planes. Say it slowly — it is doing the structural work of the whole middle third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IV — SELF. Introduce the personal plane: identity, unlearning, tolerance for ambiguity.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story: school dropout, refugee family background, rebuilt an identity and a career repeatedly, eventually founded a career-guidance company (whatchado). Source: SAP BrandVoice / Forbes profile, 2018. The self that adapts is not the self staying the same — it is the self that can be rewritten.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MEMORABLE LINE #2. Lands the personal-plane idea: unlearning as a skill, not a failure. Closes Act 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V — TOGETHER. Turn to the team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WOW #1 — the keynote's central WOW. Woolley et al. (Science, 2010): the collective intelligence factor 'c' correlates with average social sensitivity and equality of speaking turns — not average or maximum individual IQ (699 participants, two studies). 'It's the room where everyone gets to speak.'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PARADOX 3. Janis 1972 / Bay of Pigs: groupthink among some of the most credentialed people in the U.S. government. Diversity and dissent are not friction — they are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2010 San Jose mine collapse, Chile: 33 miners trapped roughly 700m underground for 69 days. Self-organized roles and rationing below ground; distributed problem-solving with engineers and family above ground. Team-level adaptability under total uncertainty. Source: Britannica, 'Chile mine rescue of 2010.'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VI — THE SYSTEM. Introduce the organizational plane: structure, incentives, information flow, power, speed of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WOW #4. Kodak's own engineer, Steven Sasson, built the first digital camera in 1975, inside Kodak. Management's recorded reaction: 'cute — but don't tell anyone about it.' Kodak filed for bankruptcy in 2012. 'It built a system that couldn't afford to.'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Netflix: DVD-by-mail to streaming (2007) to originals to ad-supported/gaming — reinvented its own model repeatedly, ahead of being forced. Blockbuster, which didn't, filed for bankruptcy in 2010.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MEMORABLE LINE #4, delivered as the slide itself. ACT VII. Distinguish resilience (return to prior state) from adaptability (become a new one). Image: braided river channels finding new paths (placeholder for NASA Earth Observatory, Yarlung Zangbo, Tibet).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PARADOX 2. Let it breathe — this is the hinge into synthesis (Act VIII).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VIII begins. Introduce Sense -&gt; Interpret -&gt; Experiment -&gt; Learn -&gt; Reconfigure -&gt; Adapt as the pattern already seen in every story told tonight, not a new framework. Say each word once, quietly, mapping it back to Shackleton's own choices: sensing the ice reports, interpreting that the crossing was over, experimenting with camps and small boats, learning and adjusting roles, reconfiguring from march to boat journey, adapting the goal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refuse to let Sense-Interpret-Experiment-Learn-Reconfigure-Adapt calcify into a bullet-point framework slide. Name how Shackleton's own decisions trace the same six-word arc, in one sentence each, spoken — not itemized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Shackleton: the 800-mile open-boat journey in the James Caird to South Georgia, then the unmapped crossing of South Georgia's mountains on foot to reach the whaling 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GOOSEBUMPS MOMENT. No version of the original plan survived. All twenty-eight men did. Let it land in full silence for a breath before continuing — do not talk over the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THESIS LINE, spoken last, after this: 'We cannot decide what the future will bring. We can decide who will be standing there to meet it.' Hold the image. No further text, no logo, no call-to-action slide. Close in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01_ice_op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00600"/>
            <a:ext cx="8321040" cy="20574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5120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1915.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02_ice_trapp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09160"/>
            <a:ext cx="8321040" cy="214884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50292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ice had other plans.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03_ice_crush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09160"/>
            <a:ext cx="8321040" cy="214884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50292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the ice began to close.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04_control_circl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965960"/>
            <a:ext cx="10607040" cy="256032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46888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have gotten extraordinarily good at</a:t>
            </a:r>
            <a:endParaRPr lang="en-US" sz="3200" dirty="0"/>
          </a:p>
          <a:p>
            <a:pPr algn="l" indent="0" marL="0">
              <a:buNone/>
            </a:pPr>
            <a:r>
              <a:rPr lang="en-US" sz="32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predicting, planning, and controlling.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04_control_circl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965960"/>
            <a:ext cx="10607040" cy="256032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46888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what happens when the environment</a:t>
            </a:r>
            <a:endParaRPr lang="en-US" sz="3200" dirty="0"/>
          </a:p>
          <a:p>
            <a:pPr algn="l" indent="0" marL="0">
              <a:buNone/>
            </a:pPr>
            <a:r>
              <a:rPr lang="en-US" sz="32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changes faster than the plan?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06_maz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09160"/>
            <a:ext cx="8321040" cy="214884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4983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9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3035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Illusion of Control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06_maz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874520"/>
            <a:ext cx="10607040" cy="256032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37744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more precisely we plan for one future,</a:t>
            </a:r>
            <a:endParaRPr lang="en-US" sz="2700" dirty="0"/>
          </a:p>
          <a:p>
            <a:pPr algn="l" indent="0" marL="0">
              <a:buNone/>
            </a:pPr>
            <a:r>
              <a:rPr lang="en-US" sz="27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less ready we are for the ones we didn't plan for.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08_ancient_tre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965960"/>
            <a:ext cx="10607040" cy="256032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46888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we looked at systems that have been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adapting for a billion years?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09_starling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977640"/>
            <a:ext cx="7772400" cy="288036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42976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leader.</a:t>
            </a:r>
            <a:endParaRPr lang="en-US" sz="3000" dirty="0"/>
          </a:p>
          <a:p>
            <a:pPr algn="l" indent="0" marL="0">
              <a:buNone/>
            </a:pPr>
            <a:r>
              <a:rPr lang="en-US" sz="30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plan.</a:t>
            </a:r>
            <a:endParaRPr lang="en-US" sz="3000" dirty="0"/>
          </a:p>
          <a:p>
            <a:pPr algn="l" indent="0" marL="0">
              <a:buNone/>
            </a:pPr>
            <a:r>
              <a:rPr lang="en-US" sz="30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wingbeat carries information.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10_myceliu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965960"/>
            <a:ext cx="10607040" cy="256032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46888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forest is not a group of trees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succeeded alone.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11_ants_netwo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7772400" cy="269748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44805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brain solved this.</a:t>
            </a:r>
            <a:endParaRPr lang="en-US" sz="3400" dirty="0"/>
          </a:p>
          <a:p>
            <a:pPr algn="l" indent="0" marL="0">
              <a:buNone/>
            </a:pPr>
            <a:r>
              <a:rPr lang="en-US" sz="34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did.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12_immu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7772400" cy="269748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44805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fast, 'dumb' system</a:t>
            </a:r>
            <a:endParaRPr lang="en-US" sz="3400" dirty="0"/>
          </a:p>
          <a:p>
            <a:pPr algn="l" indent="0" marL="0">
              <a:buNone/>
            </a:pPr>
            <a:r>
              <a:rPr lang="en-US" sz="34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too.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13_canop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2148840"/>
            <a:ext cx="10607040" cy="256032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65176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these systems have a plan.</a:t>
            </a:r>
            <a:endParaRPr lang="en-US" sz="3200" dirty="0"/>
          </a:p>
          <a:p>
            <a:pPr algn="l" indent="0" marL="0">
              <a:buNone/>
            </a:pPr>
            <a:r>
              <a:rPr lang="en-US" sz="32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of them have a capacity.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14_desert_pat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965960"/>
            <a:ext cx="10607040" cy="256032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46888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 organization can adapt,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person has to.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14_desert_pat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09160"/>
            <a:ext cx="8321040" cy="214884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50292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 Mahlodji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14_desert_pat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965960"/>
            <a:ext cx="10607040" cy="256032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46888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that cannot change its mind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cannot change its outcome.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17_circle_peop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2148840"/>
            <a:ext cx="10607040" cy="256032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65176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don't adapt alone.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17_circle_peop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9601200" cy="269748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448056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smartest room is not the room</a:t>
            </a:r>
            <a:endParaRPr lang="en-US" sz="3000" dirty="0"/>
          </a:p>
          <a:p>
            <a:pPr algn="l" indent="0" marL="0">
              <a:buNone/>
            </a:pPr>
            <a:r>
              <a:rPr lang="en-US" sz="30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smartest people in it.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19_crowd_mut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965960"/>
            <a:ext cx="10607040" cy="256032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46888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smartest individuals in a room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build the least intelligent room.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17_circle_peop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7589520" cy="269748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448056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 days.</a:t>
            </a:r>
            <a:endParaRPr lang="en-US" sz="3600" dirty="0"/>
          </a:p>
          <a:p>
            <a:pPr algn="l" indent="0" marL="0">
              <a:buNone/>
            </a:pPr>
            <a:r>
              <a:rPr lang="en-US" sz="36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 meters down.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21_struc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691640"/>
            <a:ext cx="10607040" cy="2706624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194560"/>
            <a:ext cx="96926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person can adapt.</a:t>
            </a:r>
            <a:endParaRPr lang="en-US" sz="2800" dirty="0"/>
          </a:p>
          <a:p>
            <a:pPr algn="l" indent="0" marL="0">
              <a:buNone/>
            </a:pPr>
            <a:r>
              <a:rPr lang="en-US" sz="28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team can adapt.</a:t>
            </a:r>
            <a:endParaRPr lang="en-US" sz="2800" dirty="0"/>
          </a:p>
          <a:p>
            <a:pPr algn="l" indent="0" marL="0">
              <a:buNone/>
            </a:pPr>
            <a:r>
              <a:rPr lang="en-US" sz="28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system can still say no.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22_fil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8321040" cy="269748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448056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Kodak didn't fail</a:t>
            </a:r>
            <a:endParaRPr lang="en-US" sz="3600" dirty="0"/>
          </a:p>
          <a:p>
            <a:pPr algn="l" indent="0" marL="0">
              <a:buNone/>
            </a:pPr>
            <a:r>
              <a:rPr lang="en-US" sz="36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see the future.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22_fil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965960"/>
            <a:ext cx="10607040" cy="256032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46888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systems reinvent</a:t>
            </a:r>
            <a:endParaRPr lang="en-US" sz="3200" dirty="0"/>
          </a:p>
          <a:p>
            <a:pPr algn="l" indent="0" marL="0">
              <a:buNone/>
            </a:pPr>
            <a:r>
              <a:rPr lang="en-US" sz="32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they're forced to.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24_ri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508760"/>
            <a:ext cx="10607040" cy="2706624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011680"/>
            <a:ext cx="96926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 brings you back.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Adaptability takes you somewhere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haven't been.</a:t>
            </a:r>
            <a:endParaRPr lang="en-US" sz="3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24_ri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508760"/>
            <a:ext cx="10607040" cy="2706624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011680"/>
            <a:ext cx="96926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resilient system survives by returning</a:t>
            </a:r>
            <a:endParaRPr lang="en-US" sz="2800" dirty="0"/>
          </a:p>
          <a:p>
            <a:pPr algn="l" indent="0" marL="0">
              <a:buNone/>
            </a:pPr>
            <a:r>
              <a:rPr lang="en-US" sz="28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what it was. An adaptable one survives</a:t>
            </a:r>
            <a:endParaRPr lang="en-US" sz="2800" dirty="0"/>
          </a:p>
          <a:p>
            <a:pPr algn="l" indent="0" marL="0">
              <a:buNone/>
            </a:pPr>
            <a:r>
              <a:rPr lang="en-US" sz="28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refusing to.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24_ri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01288" y="2926080"/>
            <a:ext cx="4389120" cy="100584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0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200" kern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3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24_ri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965960"/>
            <a:ext cx="10607040" cy="256032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246888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framework.</a:t>
            </a:r>
            <a:endParaRPr lang="en-US" sz="2800" dirty="0"/>
          </a:p>
          <a:p>
            <a:pPr algn="l" indent="0" marL="0">
              <a:buNone/>
            </a:pPr>
            <a:r>
              <a:rPr lang="en-US" sz="2800" i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what every story tonight already showed you.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28_open_wa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617720"/>
            <a:ext cx="10424160" cy="224028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9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IX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2120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one page of the plan survived.</a:t>
            </a:r>
            <a:endParaRPr lang="en-US" sz="3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28_open_wa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617720"/>
            <a:ext cx="10424160" cy="224028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49377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single man came home.</a:t>
            </a:r>
            <a:endParaRPr lang="en-US" sz="3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llaboration-intelligence/0cf4c0eb-a10f-5b9a-a2e0-7853419906a8/scratchpad/build/img/s28_open_wa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51960"/>
            <a:ext cx="10515600" cy="260604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457200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could not choose the ice.</a:t>
            </a:r>
            <a:endParaRPr lang="en-US" sz="3000" dirty="0"/>
          </a:p>
          <a:p>
            <a:pPr algn="l" indent="0" marL="0">
              <a:buNone/>
            </a:pPr>
            <a:r>
              <a:rPr lang="en-US" sz="3000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can still choose who we become on it.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2026-09-01T19:22:03Z</dcterms:created>
  <dcterms:modified xsi:type="dcterms:W3CDTF">2026-09-01T19:22:03Z</dcterms:modified>
</cp:coreProperties>
</file>